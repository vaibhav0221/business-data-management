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Condensed"/>
      <p:regular r:id="rId20"/>
      <p:bold r:id="rId21"/>
      <p:italic r:id="rId22"/>
      <p:boldItalic r:id="rId23"/>
    </p:embeddedFont>
    <p:embeddedFont>
      <p:font typeface="Noto Serif Gujarat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regular.fntdata"/><Relationship Id="rId22" Type="http://schemas.openxmlformats.org/officeDocument/2006/relationships/font" Target="fonts/RobotoCondensed-italic.fntdata"/><Relationship Id="rId21" Type="http://schemas.openxmlformats.org/officeDocument/2006/relationships/font" Target="fonts/RobotoCondensed-bold.fntdata"/><Relationship Id="rId24" Type="http://schemas.openxmlformats.org/officeDocument/2006/relationships/font" Target="fonts/NotoSerifGujarati-regular.fntdata"/><Relationship Id="rId23" Type="http://schemas.openxmlformats.org/officeDocument/2006/relationships/font" Target="fonts/RobotoCondense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otoSerifGujarat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2c481ec3d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2c481ec3d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c481ec3d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2c481ec3d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2c481ec3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2c481ec3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2c481ec3d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2c481ec3d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65857ebd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65857ebd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65857ebd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65857ebd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5857eb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5857eb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5857ebd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5857eb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2c481ec3d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2c481ec3d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5400000">
            <a:off x="-1238250" y="1235525"/>
            <a:ext cx="5148964" cy="2672439"/>
          </a:xfrm>
          <a:custGeom>
            <a:rect b="b" l="l" r="r" t="t"/>
            <a:pathLst>
              <a:path extrusionOk="0" h="3089525" w="5851096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rgbClr val="76CEEF"/>
          </a:solidFill>
          <a:ln cap="flat" cmpd="sng" w="15875">
            <a:solidFill>
              <a:srgbClr val="76CE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672450" y="0"/>
            <a:ext cx="6471600" cy="51435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A logo with a flower in the middle&#10;&#10;AI-generated content may be incorrect.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23" y="740700"/>
            <a:ext cx="1830000" cy="18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937800" y="740704"/>
            <a:ext cx="5940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SALES PATTERN ANALYSIS AND OPERATIONAL BOTTLENECKS IN A DINE-IN RESTAURANT USING POS DATA </a:t>
            </a:r>
            <a:endParaRPr sz="2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937800" y="4002775"/>
            <a:ext cx="56622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EFEF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SUBMITTED BY: NAME : VAIBHAV SONI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EFEF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STUDENT EMAIL: 23F2004675@DS.STUDY.IITM.AC.IN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EFEF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ROLL NUMBER: 23F2004675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2937792" y="4002779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 rot="5400000">
            <a:off x="5233300" y="1235525"/>
            <a:ext cx="5148964" cy="2672439"/>
          </a:xfrm>
          <a:custGeom>
            <a:rect b="b" l="l" r="r" t="t"/>
            <a:pathLst>
              <a:path extrusionOk="0" h="3089525" w="5851096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rgbClr val="76CEEF"/>
          </a:solidFill>
          <a:ln cap="flat" cmpd="sng" w="15875">
            <a:solidFill>
              <a:srgbClr val="76CE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0" y="-2700"/>
            <a:ext cx="7292700" cy="51489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55150" y="430325"/>
            <a:ext cx="2301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CONTENT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67900" y="1405302"/>
            <a:ext cx="6084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About the business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Online vs. Offline orders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Order trend overview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Orders with Hours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15 most ordered items with sales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omic Sans MS"/>
              <a:buChar char="●"/>
            </a:pPr>
            <a:r>
              <a:rPr lang="en" sz="2000">
                <a:solidFill>
                  <a:srgbClr val="FEFEFE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 and Recommendations</a:t>
            </a:r>
            <a:endParaRPr sz="2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1893" r="0" t="2771"/>
          <a:stretch/>
        </p:blipFill>
        <p:spPr>
          <a:xfrm>
            <a:off x="5113113" y="317065"/>
            <a:ext cx="3236800" cy="21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2450" y="2623335"/>
            <a:ext cx="3236800" cy="218483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702050" y="320075"/>
            <a:ext cx="4401000" cy="762600"/>
          </a:xfrm>
          <a:prstGeom prst="rect">
            <a:avLst/>
          </a:prstGeom>
          <a:solidFill>
            <a:srgbClr val="1CADE4"/>
          </a:solidFill>
          <a:ln cap="flat" cmpd="sng" w="15875">
            <a:solidFill>
              <a:srgbClr val="DF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84458" y="459474"/>
            <a:ext cx="4195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ABOUT THE BUSINESS</a:t>
            </a:r>
            <a:endParaRPr b="1" sz="2600" u="sng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 flipH="1">
            <a:off x="900814" y="511282"/>
            <a:ext cx="2100" cy="409200"/>
          </a:xfrm>
          <a:prstGeom prst="straightConnector1">
            <a:avLst/>
          </a:prstGeom>
          <a:noFill/>
          <a:ln cap="flat" cmpd="sng" w="15875">
            <a:solidFill>
              <a:srgbClr val="DFE3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318275" y="1510925"/>
            <a:ext cx="44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Royale Place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vegetarian 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 cuisine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restaurant located in Bhawanipur, Kolkata, West Bengal.</a:t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18275" y="2474738"/>
            <a:ext cx="44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offers a wide variety of dishes with a special focus on </a:t>
            </a:r>
            <a:r>
              <a:rPr b="1"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Jain dietary requirements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fresh daily catering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18275" y="3438575"/>
            <a:ext cx="44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restaurant operates in the </a:t>
            </a:r>
            <a:r>
              <a:rPr b="1"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B2C food &amp; beverage sector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has built a strong, loyal dine-in customer base.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3115901" y="1272503"/>
            <a:ext cx="3069083" cy="2854852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8969" y="466300"/>
            <a:ext cx="26085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464226" y="1799051"/>
            <a:ext cx="3947197" cy="2418252"/>
            <a:chOff x="0" y="-57150"/>
            <a:chExt cx="1736100" cy="870000"/>
          </a:xfrm>
        </p:grpSpPr>
        <p:sp>
          <p:nvSpPr>
            <p:cNvPr id="87" name="Google Shape;87;p16"/>
            <p:cNvSpPr txBox="1"/>
            <p:nvPr/>
          </p:nvSpPr>
          <p:spPr>
            <a:xfrm>
              <a:off x="0" y="-57150"/>
              <a:ext cx="173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32775" lIns="65575" spcFirstLastPara="1" rIns="65575" wrap="square" tIns="3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4665900" y="908276"/>
            <a:ext cx="3947197" cy="2418339"/>
            <a:chOff x="0" y="-57150"/>
            <a:chExt cx="1736100" cy="87000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32775" lIns="65575" spcFirstLastPara="1" rIns="65575" wrap="square" tIns="3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0" y="-57150"/>
              <a:ext cx="173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 flipH="1" rot="-7961064">
            <a:off x="7540828" y="-46720"/>
            <a:ext cx="2550777" cy="1196004"/>
            <a:chOff x="0" y="0"/>
            <a:chExt cx="660400" cy="31765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0300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2475" lIns="64975" spcFirstLastPara="1" rIns="64975" wrap="square" tIns="32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100" lIns="36100" spcFirstLastPara="1" rIns="36100" wrap="square" tIns="361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 flipH="1" rot="3190814">
            <a:off x="-1147211" y="3909111"/>
            <a:ext cx="2747278" cy="1288097"/>
            <a:chOff x="0" y="0"/>
            <a:chExt cx="660400" cy="31765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18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975" lIns="69975" spcFirstLastPara="1" rIns="69975" wrap="square" tIns="34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875" lIns="38875" spcFirstLastPara="1" rIns="38875" wrap="square" tIns="38875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98" name="Google Shape;98;p16"/>
          <p:cNvSpPr txBox="1"/>
          <p:nvPr/>
        </p:nvSpPr>
        <p:spPr>
          <a:xfrm>
            <a:off x="1399375" y="2761875"/>
            <a:ext cx="207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Low online sales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266250" y="1717250"/>
            <a:ext cx="274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imited visibility into sales patterns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240331" y="105461"/>
            <a:ext cx="6931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ONLINE VS. OFFLINE ORDERS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 flipH="1">
            <a:off x="237867" y="190750"/>
            <a:ext cx="1200" cy="544200"/>
          </a:xfrm>
          <a:prstGeom prst="straightConnector1">
            <a:avLst/>
          </a:prstGeom>
          <a:noFill/>
          <a:ln cap="flat" cmpd="sng" w="15875">
            <a:solidFill>
              <a:srgbClr val="227C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" name="Google Shape;106;p17" title="graph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25" y="1423612"/>
            <a:ext cx="5557250" cy="331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5938925" y="17514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January 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Offline orders: 544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Online orders: 6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938936" y="258275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February </a:t>
            </a:r>
            <a:r>
              <a:rPr lang="en"/>
              <a:t>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Offline orders: 379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Online orders: 0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5971552" y="3420694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March 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Offline orders: 299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Online orders: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240327" y="105450"/>
            <a:ext cx="3825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Order trend overview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 flipH="1">
            <a:off x="237867" y="190750"/>
            <a:ext cx="1200" cy="544200"/>
          </a:xfrm>
          <a:prstGeom prst="straightConnector1">
            <a:avLst/>
          </a:prstGeom>
          <a:noFill/>
          <a:ln cap="flat" cmpd="sng" w="15875">
            <a:solidFill>
              <a:srgbClr val="227C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6" name="Google Shape;116;p18" title="graph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50" y="848250"/>
            <a:ext cx="3679676" cy="268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graph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683" y="190755"/>
            <a:ext cx="4529050" cy="2469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240325" y="3534300"/>
            <a:ext cx="44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Jan </a:t>
            </a:r>
            <a:r>
              <a:rPr lang="en">
                <a:solidFill>
                  <a:schemeClr val="dk1"/>
                </a:solidFill>
              </a:rPr>
              <a:t>2025: 550 Orders, 1,89,661 rupees sales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40325" y="3934500"/>
            <a:ext cx="44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Feb 2025: 379 Orders, 1,08,256 rupees sales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51941" y="4350220"/>
            <a:ext cx="44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Mar 2025: 301 Orders, 1,36,771 rupees sales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103464" y="3249663"/>
            <a:ext cx="33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Sunday: 180 orders, ₹97,408 sales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103464" y="2831811"/>
            <a:ext cx="3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</a:t>
            </a:r>
            <a:r>
              <a:rPr lang="en">
                <a:solidFill>
                  <a:schemeClr val="dk1"/>
                </a:solidFill>
              </a:rPr>
              <a:t>Friday: 200 orders, ₹66,279 sales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5103464" y="3649863"/>
            <a:ext cx="351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</a:t>
            </a:r>
            <a:r>
              <a:rPr lang="en">
                <a:solidFill>
                  <a:schemeClr val="dk1"/>
                </a:solidFill>
              </a:rPr>
              <a:t>Monday: 156 orders, ₹32,930 sales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240331" y="105461"/>
            <a:ext cx="6931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Orders with Hours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29" name="Google Shape;129;p19"/>
          <p:cNvCxnSpPr/>
          <p:nvPr/>
        </p:nvCxnSpPr>
        <p:spPr>
          <a:xfrm flipH="1">
            <a:off x="237867" y="190750"/>
            <a:ext cx="1200" cy="544200"/>
          </a:xfrm>
          <a:prstGeom prst="straightConnector1">
            <a:avLst/>
          </a:prstGeom>
          <a:noFill/>
          <a:ln cap="flat" cmpd="sng" w="15875">
            <a:solidFill>
              <a:srgbClr val="227C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" name="Google Shape;130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271" y="1042642"/>
            <a:ext cx="6689175" cy="399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453575" y="2264197"/>
            <a:ext cx="157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11 PM – 12 AM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104 orders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₹62,951 Sales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453575" y="1381341"/>
            <a:ext cx="157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10 PM – 11 PM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135 orders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₹64,437 Sales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75485" y="3123420"/>
            <a:ext cx="157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09</a:t>
            </a:r>
            <a:r>
              <a:rPr lang="en">
                <a:solidFill>
                  <a:schemeClr val="dk1"/>
                </a:solidFill>
              </a:rPr>
              <a:t> PM – 10 PM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114 orders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₹64,333 Sales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240331" y="105461"/>
            <a:ext cx="6931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15 most ordered items with sales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 flipH="1">
            <a:off x="237867" y="190750"/>
            <a:ext cx="1200" cy="544200"/>
          </a:xfrm>
          <a:prstGeom prst="straightConnector1">
            <a:avLst/>
          </a:prstGeom>
          <a:noFill/>
          <a:ln cap="flat" cmpd="sng" w="15875">
            <a:solidFill>
              <a:srgbClr val="227C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0" name="Google Shape;140;p20" title="gra[h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21" y="1035509"/>
            <a:ext cx="5599025" cy="399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5930450" y="154815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Kinley Water Bottle: 959 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Milk Tea: 643 units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Tawa Roti: 233 units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Tandoori Roti Butter: 185 units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Tawa Butter Roti: 126 units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Yellow Dal: 60 portions, ₹16,907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240331" y="105461"/>
            <a:ext cx="6931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 AND RECOMMENDATIONS</a:t>
            </a:r>
            <a:endParaRPr sz="2600" u="sng">
              <a:solidFill>
                <a:srgbClr val="0C0C0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7" name="Google Shape;147;p21"/>
          <p:cNvCxnSpPr/>
          <p:nvPr/>
        </p:nvCxnSpPr>
        <p:spPr>
          <a:xfrm flipH="1">
            <a:off x="237867" y="190750"/>
            <a:ext cx="1200" cy="544200"/>
          </a:xfrm>
          <a:prstGeom prst="straightConnector1">
            <a:avLst/>
          </a:prstGeom>
          <a:noFill/>
          <a:ln cap="flat" cmpd="sng" w="15875">
            <a:solidFill>
              <a:srgbClr val="227C9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21"/>
          <p:cNvGrpSpPr/>
          <p:nvPr/>
        </p:nvGrpSpPr>
        <p:grpSpPr>
          <a:xfrm>
            <a:off x="183364" y="1283253"/>
            <a:ext cx="4223044" cy="3146967"/>
            <a:chOff x="2791107" y="1244647"/>
            <a:chExt cx="3561647" cy="2654100"/>
          </a:xfrm>
        </p:grpSpPr>
        <p:sp>
          <p:nvSpPr>
            <p:cNvPr id="149" name="Google Shape;149;p21"/>
            <p:cNvSpPr/>
            <p:nvPr/>
          </p:nvSpPr>
          <p:spPr>
            <a:xfrm flipH="1" rot="5400000">
              <a:off x="3283753" y="829747"/>
              <a:ext cx="2654100" cy="34839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 flipH="1" rot="5400000">
              <a:off x="2772807" y="3538475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 flipH="1" rot="5400000">
              <a:off x="2772807" y="3349203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 flipH="1" rot="5400000">
              <a:off x="2772807" y="3159930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 flipH="1" rot="5400000">
              <a:off x="2772807" y="2970658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21"/>
            <p:cNvSpPr/>
            <p:nvPr/>
          </p:nvSpPr>
          <p:spPr>
            <a:xfrm flipH="1" rot="5400000">
              <a:off x="2772807" y="2781385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 flipH="1" rot="5400000">
              <a:off x="2772807" y="2592113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 flipH="1" rot="5400000">
              <a:off x="2772807" y="2402841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 flipH="1" rot="5400000">
              <a:off x="2772807" y="2213568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 flipH="1" rot="5400000">
              <a:off x="2772807" y="2024296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 flipH="1" rot="5400000">
              <a:off x="2772807" y="1835024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21"/>
            <p:cNvSpPr/>
            <p:nvPr/>
          </p:nvSpPr>
          <p:spPr>
            <a:xfrm flipH="1" rot="5400000">
              <a:off x="2772807" y="1645751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" name="Google Shape;161;p21"/>
            <p:cNvSpPr/>
            <p:nvPr/>
          </p:nvSpPr>
          <p:spPr>
            <a:xfrm flipH="1" rot="5400000">
              <a:off x="2772807" y="1456479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" name="Google Shape;162;p21"/>
            <p:cNvSpPr/>
            <p:nvPr/>
          </p:nvSpPr>
          <p:spPr>
            <a:xfrm flipH="1" rot="5400000">
              <a:off x="2772807" y="1267207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21"/>
            <p:cNvSpPr/>
            <p:nvPr/>
          </p:nvSpPr>
          <p:spPr>
            <a:xfrm flipH="1" rot="5400000">
              <a:off x="2772807" y="3727747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21"/>
            <p:cNvSpPr txBox="1"/>
            <p:nvPr/>
          </p:nvSpPr>
          <p:spPr>
            <a:xfrm>
              <a:off x="3024000" y="1244750"/>
              <a:ext cx="3194700" cy="5685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91"/>
                <a:buFont typeface="Arial"/>
                <a:buNone/>
              </a:pPr>
              <a:r>
                <a:rPr lang="en" sz="2167" u="sng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Results</a:t>
              </a:r>
              <a:endParaRPr sz="2655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3590800" y="1902325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Dine-In Dominance and Negligible Online Orders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3590800" y="2386167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Strong Weekend Traffic and Late Night Peaks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3590800" y="2870008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Monthly Revenue Trends (Jan best)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3590800" y="3353850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Menu Consumption Patterns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3100210" y="1911742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01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3100210" y="2394421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02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3100210" y="2877111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03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3100210" y="3363262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04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73" name="Google Shape;173;p21"/>
          <p:cNvGrpSpPr/>
          <p:nvPr/>
        </p:nvGrpSpPr>
        <p:grpSpPr>
          <a:xfrm>
            <a:off x="4701115" y="1283246"/>
            <a:ext cx="4223044" cy="3146967"/>
            <a:chOff x="2791107" y="1244647"/>
            <a:chExt cx="3561647" cy="2654100"/>
          </a:xfrm>
        </p:grpSpPr>
        <p:sp>
          <p:nvSpPr>
            <p:cNvPr id="174" name="Google Shape;174;p21"/>
            <p:cNvSpPr/>
            <p:nvPr/>
          </p:nvSpPr>
          <p:spPr>
            <a:xfrm flipH="1" rot="5400000">
              <a:off x="3283753" y="829747"/>
              <a:ext cx="2654100" cy="34839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 flipH="1" rot="5400000">
              <a:off x="2772807" y="3538475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 flipH="1" rot="5400000">
              <a:off x="2772807" y="3349203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21"/>
            <p:cNvSpPr/>
            <p:nvPr/>
          </p:nvSpPr>
          <p:spPr>
            <a:xfrm flipH="1" rot="5400000">
              <a:off x="2772807" y="3159930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21"/>
            <p:cNvSpPr/>
            <p:nvPr/>
          </p:nvSpPr>
          <p:spPr>
            <a:xfrm flipH="1" rot="5400000">
              <a:off x="2772807" y="2970658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21"/>
            <p:cNvSpPr/>
            <p:nvPr/>
          </p:nvSpPr>
          <p:spPr>
            <a:xfrm flipH="1" rot="5400000">
              <a:off x="2772807" y="2781385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21"/>
            <p:cNvSpPr/>
            <p:nvPr/>
          </p:nvSpPr>
          <p:spPr>
            <a:xfrm flipH="1" rot="5400000">
              <a:off x="2772807" y="2592113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 flipH="1" rot="5400000">
              <a:off x="2772807" y="2402841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 flipH="1" rot="5400000">
              <a:off x="2772807" y="2213568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 flipH="1" rot="5400000">
              <a:off x="2772807" y="2024296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 flipH="1" rot="5400000">
              <a:off x="2772807" y="1835024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 flipH="1" rot="5400000">
              <a:off x="2772807" y="1645751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 flipH="1" rot="5400000">
              <a:off x="2772807" y="1456479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 flipH="1" rot="5400000">
              <a:off x="2772807" y="1267207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 flipH="1" rot="5400000">
              <a:off x="2772807" y="3727747"/>
              <a:ext cx="189300" cy="152700"/>
            </a:xfrm>
            <a:prstGeom prst="diamond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3024000" y="1244750"/>
              <a:ext cx="3194700" cy="5685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108400" lIns="108400" spcFirstLastPara="1" rIns="108400" wrap="square" tIns="108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SzPts val="591"/>
                <a:buNone/>
              </a:pPr>
              <a:r>
                <a:rPr lang="en" sz="2167" u="sng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Recommendations</a:t>
              </a:r>
              <a:endParaRPr sz="2656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3590800" y="1856469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Integrate with Major Online Delivery Platforms (Swiggy &amp; Zomato)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3590800" y="2386167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Use Influencer Marketing to Increase Visibility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3590800" y="2870008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Promote High-Margin Menu Combinations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3590800" y="3353850"/>
              <a:ext cx="2704200" cy="396300"/>
            </a:xfrm>
            <a:prstGeom prst="rect">
              <a:avLst/>
            </a:prstGeom>
            <a:solidFill>
              <a:srgbClr val="76C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34">
                  <a:solidFill>
                    <a:schemeClr val="dk1"/>
                  </a:solidFill>
                  <a:latin typeface="Noto Serif Gujarati"/>
                  <a:ea typeface="Noto Serif Gujarati"/>
                  <a:cs typeface="Noto Serif Gujarati"/>
                  <a:sym typeface="Noto Serif Gujarati"/>
                </a:rPr>
                <a:t>Improve Digital Content and Customer Engagement</a:t>
              </a:r>
              <a:endParaRPr sz="1897">
                <a:solidFill>
                  <a:schemeClr val="dk1"/>
                </a:solidFill>
                <a:latin typeface="Noto Serif Gujarati"/>
                <a:ea typeface="Noto Serif Gujarati"/>
                <a:cs typeface="Noto Serif Gujarati"/>
                <a:sym typeface="Noto Serif Gujarati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3100210" y="1893400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01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100210" y="2376079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02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3100210" y="2877111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03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3100210" y="3363262"/>
              <a:ext cx="361500" cy="361500"/>
            </a:xfrm>
            <a:prstGeom prst="ellipse">
              <a:avLst/>
            </a:prstGeom>
            <a:solidFill>
              <a:srgbClr val="76CEEF"/>
            </a:solidFill>
            <a:ln cap="flat" cmpd="sng" w="22600">
              <a:solidFill>
                <a:srgbClr val="2829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542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0">
                  <a:solidFill>
                    <a:schemeClr val="dk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04</a:t>
              </a:r>
              <a:endParaRPr sz="166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/>
          <p:nvPr/>
        </p:nvSpPr>
        <p:spPr>
          <a:xfrm rot="5400000">
            <a:off x="-644767" y="650135"/>
            <a:ext cx="5131727" cy="3831457"/>
          </a:xfrm>
          <a:custGeom>
            <a:rect b="b" l="l" r="r" t="t"/>
            <a:pathLst>
              <a:path extrusionOk="0" h="4305008" w="5593163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441625" y="0"/>
            <a:ext cx="6702300" cy="51318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2953375" y="2017699"/>
            <a:ext cx="465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</a:t>
            </a:r>
            <a:endParaRPr sz="5000">
              <a:solidFill>
                <a:srgbClr val="FEFEF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5" name="Google Shape;205;p22"/>
          <p:cNvCxnSpPr/>
          <p:nvPr/>
        </p:nvCxnSpPr>
        <p:spPr>
          <a:xfrm>
            <a:off x="3029582" y="2792286"/>
            <a:ext cx="51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